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8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9667F-46C8-4671-982F-C6D1F0E7B150}" v="127" dt="2026-09-19T10:29:32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2EDAFB-1895-20D5-56E7-C041387735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04312-049C-C9D8-1B94-B13CCF098C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4E2-0607-479E-BC4C-4534FB756DEE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66621-6383-3B50-87D3-6ED0BE8018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1D04C-359C-ED43-78A6-C19B5F58CD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5189-4D4E-4CA6-82CA-6E3DB7E62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23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8E8A7-7A23-4AD4-929E-F631FC41F7CB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4AA75-D125-4710-B513-E03DED695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2871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14C3-97F5-3FD7-98AE-6139FE0E7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29573-8C97-0AAE-7A93-E9BBE5EF8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2068A-F6A7-2D2B-1B95-333315E9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879F-0A82-452C-B2B4-F2048837FAF8}" type="datetime1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50538-0E5D-A381-6CB3-559917D6F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8F976-1D18-604E-3E58-45DBB815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106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FC7D-85A0-AF47-22E6-C4B93538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92BB7-089E-F704-241A-425A5247F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8DFC6-BF7B-E2FE-669B-F9729EB2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F8C9-D7DD-4CAE-9E94-6EC1697B3AD9}" type="datetime1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947C1-BBB1-7D66-C642-4A03CE8C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38ADB-E074-219C-34A1-BCDAB9650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31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C3A8-5CFD-9F0E-D283-E299F34B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21B13-F285-14B4-1E60-0A821D766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827B7-50DA-793D-B317-93438C61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A33A-325C-4689-B634-A082605A070F}" type="datetime1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DF54B-2BB2-748C-AD0C-0803C597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5BE04-7C6D-40E3-1911-4714FD04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4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5F8B-8313-A769-04C9-735C71DB9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45827-AE35-D39D-9563-F754B359E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D1CCB-C1EE-7F3B-21C9-4DCC8DE08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95DCA-4DD9-7CC1-6165-F87F3552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A5B3-3666-4FCD-8A50-97FC2C4C9E59}" type="datetime1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B3002-8054-9B81-C9C7-5B63EAF4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F724D-87C1-BAE3-BA33-20104524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13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8D22-6764-A5AF-0E31-953F21EB2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EE28A-27C1-D41B-63D0-023AA27E5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FA556-985F-270D-01DF-78224AE2E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042E3-EE90-ABFB-DCD5-D3C018D77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3D0FB4-B390-AB7F-B0BB-2D0661749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EB37E8-667C-F22C-368E-FBF130632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D4A5-E8B2-4511-8F16-23050563B5B1}" type="datetime1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DE6DDD-857D-E0DE-3BA5-72121B46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6A5CC-F052-1C8C-4807-F6E52AE01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95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B2D9-5FAA-2A57-75FE-3042B946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566B9-240A-7F94-7DF9-A226E48B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C2290-9A39-4748-97DC-756BFE82DF89}" type="datetime1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A69C23-B205-2BE7-9718-0846AE51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3C539-DB8B-4B28-4713-A6AA6D23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98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D9AC7-8C89-6E43-F874-C02C5DC1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9CB1-90E2-42BD-A8E3-9AC3390A04DA}" type="datetime1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09A5D-43A5-6575-3A1A-2CDEDA9A3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0FDFB-7677-021A-1ECF-784370B1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62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CE8A-B08C-2FF2-5DA9-B35F72C4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3932D-DC8C-3539-44EB-9C2669742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C1956-58C7-B257-FF73-F6C01297E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4FD44-8344-1B40-C1C5-2720B9CF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A7BC7-2821-4E2E-81DB-6EF7422225A5}" type="datetime1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E5422-687C-2B9E-131C-F10B664E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3F045-BDF8-3FF2-645E-1E9B61B8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94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E1FE-B9B3-E450-837B-46F0B81F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1E7E30-CC77-15EF-576A-DDA2915FA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5F7D3-C636-B44B-8CD6-A312655AA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E9A6A-4153-DDF0-4DC3-D16EB4251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3E87A-5C95-413B-9A1C-D093510D39EB}" type="datetime1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80A97-B759-781D-B6F2-7EA1F084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9EFF4-0CD5-68C3-9EB7-3C6880A3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25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C4E54-DF39-0A56-23CA-79A2C5056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62E04-A065-D794-3403-37E18026E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6B9E0-0A7B-E760-6460-D455694C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DAD1-8CBA-4FA5-A9ED-E2BF920BA131}" type="datetime1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1CE69-A71C-0CC6-D211-408E97B42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8111F-0B6C-7E71-4E80-4E06A1B7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009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71AFB0-F40B-F447-70A5-C1E165348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1FE12-462C-A4F7-E594-11EF73BE6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88234-936A-4DA9-3B04-8ED65A4E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5643-D0F9-45F8-99A2-88C7D57AA5FE}" type="datetime1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17171-7CF7-FCED-2F34-D4045E81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F286B-6D43-F5FB-DA69-288C3A88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1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5E223-6451-C6DD-321C-EDA876BF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69BE0-C967-2DD9-12B7-4814D8C5A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1CA32-0C8A-00AC-1EDF-6EFC535AC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49508-C3F3-4D9B-9570-3BAC61751541}" type="datetime1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E7466-CB5B-BFCA-3A02-6EFC7E83C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INDIA SUPPLY CHAIN • EXECUTIVE REVIEW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F44CA-B70F-193C-AA3A-26D511808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E7571-7756-48F7-A483-E193C02D3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8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C865B1-2194-7E05-F5CD-20B54AD7A1B1}"/>
              </a:ext>
            </a:extLst>
          </p:cNvPr>
          <p:cNvSpPr txBox="1"/>
          <p:nvPr/>
        </p:nvSpPr>
        <p:spPr>
          <a:xfrm>
            <a:off x="972051" y="1112920"/>
            <a:ext cx="6953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INDIA SUPPLY CHAIN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87B9C-193F-B2D3-2F4D-D5AF0F212203}"/>
              </a:ext>
            </a:extLst>
          </p:cNvPr>
          <p:cNvSpPr txBox="1"/>
          <p:nvPr/>
        </p:nvSpPr>
        <p:spPr>
          <a:xfrm>
            <a:off x="972051" y="1759251"/>
            <a:ext cx="7578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>
                    <a:lumMod val="85000"/>
                  </a:schemeClr>
                </a:solidFill>
              </a:rPr>
              <a:t>EXECUTIVE PERFORMANCE REVIEV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3CF3E-4D38-8133-999A-6700F62300E7}"/>
              </a:ext>
            </a:extLst>
          </p:cNvPr>
          <p:cNvSpPr txBox="1"/>
          <p:nvPr/>
        </p:nvSpPr>
        <p:spPr>
          <a:xfrm>
            <a:off x="972051" y="2559470"/>
            <a:ext cx="521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Sales . Demand . Network . Logistics .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7D04A-9380-B7EB-9335-C604233CD6CA}"/>
              </a:ext>
            </a:extLst>
          </p:cNvPr>
          <p:cNvSpPr txBox="1"/>
          <p:nvPr/>
        </p:nvSpPr>
        <p:spPr>
          <a:xfrm>
            <a:off x="1203158" y="5053263"/>
            <a:ext cx="42351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FEB 2024 - JAN 2028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253666-C0A3-C691-1628-91649FA77333}"/>
              </a:ext>
            </a:extLst>
          </p:cNvPr>
          <p:cNvSpPr txBox="1"/>
          <p:nvPr/>
        </p:nvSpPr>
        <p:spPr>
          <a:xfrm>
            <a:off x="1203158" y="5314873"/>
            <a:ext cx="2085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</a:rPr>
              <a:t>10,000 transactions </a:t>
            </a:r>
            <a:r>
              <a:rPr lang="en-IN" sz="900" dirty="0" err="1">
                <a:solidFill>
                  <a:schemeClr val="bg1"/>
                </a:solidFill>
              </a:rPr>
              <a:t>analyzed</a:t>
            </a:r>
            <a:endParaRPr lang="en-IN" sz="9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614CF1-99A0-1E92-18BD-4825BD0D6D85}"/>
              </a:ext>
            </a:extLst>
          </p:cNvPr>
          <p:cNvSpPr txBox="1"/>
          <p:nvPr/>
        </p:nvSpPr>
        <p:spPr>
          <a:xfrm>
            <a:off x="1203158" y="5710989"/>
            <a:ext cx="27752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</a:rPr>
              <a:t>MANAGEMENT EDITION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C29C13-67DC-29D0-DAE4-89A58F34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11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C75A69-BECD-D52B-0EA4-3365608DF5EF}"/>
              </a:ext>
            </a:extLst>
          </p:cNvPr>
          <p:cNvSpPr txBox="1"/>
          <p:nvPr/>
        </p:nvSpPr>
        <p:spPr>
          <a:xfrm>
            <a:off x="895950" y="802106"/>
            <a:ext cx="6403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Performance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36B32-1853-46D3-11E7-8F32B4D32A61}"/>
              </a:ext>
            </a:extLst>
          </p:cNvPr>
          <p:cNvSpPr txBox="1"/>
          <p:nvPr/>
        </p:nvSpPr>
        <p:spPr>
          <a:xfrm>
            <a:off x="895950" y="1386881"/>
            <a:ext cx="107024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A concise view of demand realization, cost and service execution.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A4009D-3D7B-867F-8422-EB26EBE5100F}"/>
              </a:ext>
            </a:extLst>
          </p:cNvPr>
          <p:cNvSpPr/>
          <p:nvPr/>
        </p:nvSpPr>
        <p:spPr>
          <a:xfrm>
            <a:off x="766213" y="1959140"/>
            <a:ext cx="1908000" cy="100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F57DA8-28AE-BE4E-BBAA-C0032448B22B}"/>
              </a:ext>
            </a:extLst>
          </p:cNvPr>
          <p:cNvSpPr/>
          <p:nvPr/>
        </p:nvSpPr>
        <p:spPr>
          <a:xfrm>
            <a:off x="3033112" y="1959140"/>
            <a:ext cx="1908000" cy="100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C96BE7-7C05-0985-7160-446FA5FA585A}"/>
              </a:ext>
            </a:extLst>
          </p:cNvPr>
          <p:cNvSpPr/>
          <p:nvPr/>
        </p:nvSpPr>
        <p:spPr>
          <a:xfrm>
            <a:off x="5300011" y="1959140"/>
            <a:ext cx="1908000" cy="100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BEC400-DFF8-BD8C-D744-635B1B6C0428}"/>
              </a:ext>
            </a:extLst>
          </p:cNvPr>
          <p:cNvSpPr/>
          <p:nvPr/>
        </p:nvSpPr>
        <p:spPr>
          <a:xfrm>
            <a:off x="7566910" y="1959140"/>
            <a:ext cx="1908000" cy="100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F061EE-7A65-BFD6-ECF9-977772B7A309}"/>
              </a:ext>
            </a:extLst>
          </p:cNvPr>
          <p:cNvSpPr/>
          <p:nvPr/>
        </p:nvSpPr>
        <p:spPr>
          <a:xfrm>
            <a:off x="9833810" y="1959140"/>
            <a:ext cx="1908000" cy="100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FA0BC-9FB0-D40F-1C2D-3885A59316A0}"/>
              </a:ext>
            </a:extLst>
          </p:cNvPr>
          <p:cNvSpPr txBox="1"/>
          <p:nvPr/>
        </p:nvSpPr>
        <p:spPr>
          <a:xfrm>
            <a:off x="1495425" y="4177006"/>
            <a:ext cx="124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753DB2-A557-C152-BDCC-8E1596DD7F32}"/>
              </a:ext>
            </a:extLst>
          </p:cNvPr>
          <p:cNvSpPr txBox="1"/>
          <p:nvPr/>
        </p:nvSpPr>
        <p:spPr>
          <a:xfrm>
            <a:off x="1647825" y="4329406"/>
            <a:ext cx="124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5FA5FD-6B8A-E571-E58F-448F4939C02D}"/>
              </a:ext>
            </a:extLst>
          </p:cNvPr>
          <p:cNvSpPr txBox="1"/>
          <p:nvPr/>
        </p:nvSpPr>
        <p:spPr>
          <a:xfrm>
            <a:off x="1800225" y="4481806"/>
            <a:ext cx="124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0C878-C8F6-488D-0562-C246E288D7DF}"/>
              </a:ext>
            </a:extLst>
          </p:cNvPr>
          <p:cNvSpPr txBox="1"/>
          <p:nvPr/>
        </p:nvSpPr>
        <p:spPr>
          <a:xfrm>
            <a:off x="1952625" y="4634206"/>
            <a:ext cx="124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43CFB9-3962-B0B1-1525-20EC9EAD52AD}"/>
              </a:ext>
            </a:extLst>
          </p:cNvPr>
          <p:cNvSpPr txBox="1"/>
          <p:nvPr/>
        </p:nvSpPr>
        <p:spPr>
          <a:xfrm>
            <a:off x="2105025" y="4786606"/>
            <a:ext cx="124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145EF4-803A-C276-2D53-EEDB9CFAD0A8}"/>
              </a:ext>
            </a:extLst>
          </p:cNvPr>
          <p:cNvSpPr txBox="1"/>
          <p:nvPr/>
        </p:nvSpPr>
        <p:spPr>
          <a:xfrm>
            <a:off x="2257425" y="4939006"/>
            <a:ext cx="124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5BD0A-670E-36E8-4885-87EAC05E607C}"/>
              </a:ext>
            </a:extLst>
          </p:cNvPr>
          <p:cNvSpPr txBox="1"/>
          <p:nvPr/>
        </p:nvSpPr>
        <p:spPr>
          <a:xfrm>
            <a:off x="895950" y="2057400"/>
            <a:ext cx="1647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749F0A-DBEB-3D2E-E488-E7989756EF6F}"/>
              </a:ext>
            </a:extLst>
          </p:cNvPr>
          <p:cNvSpPr txBox="1"/>
          <p:nvPr/>
        </p:nvSpPr>
        <p:spPr>
          <a:xfrm>
            <a:off x="895950" y="2351246"/>
            <a:ext cx="164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72.70 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9204FF-1567-AE89-6221-B7F6B7F89B66}"/>
              </a:ext>
            </a:extLst>
          </p:cNvPr>
          <p:cNvSpPr txBox="1"/>
          <p:nvPr/>
        </p:nvSpPr>
        <p:spPr>
          <a:xfrm>
            <a:off x="895950" y="2619375"/>
            <a:ext cx="1647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Units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71311C-E99E-85AF-3F18-B3489919B18B}"/>
              </a:ext>
            </a:extLst>
          </p:cNvPr>
          <p:cNvSpPr txBox="1"/>
          <p:nvPr/>
        </p:nvSpPr>
        <p:spPr>
          <a:xfrm>
            <a:off x="3124200" y="2057400"/>
            <a:ext cx="152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FORECAST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3D75E3-B8D3-79CE-6B1B-59B8F7711242}"/>
              </a:ext>
            </a:extLst>
          </p:cNvPr>
          <p:cNvSpPr txBox="1"/>
          <p:nvPr/>
        </p:nvSpPr>
        <p:spPr>
          <a:xfrm>
            <a:off x="3124200" y="2351246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77.35 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22CD09-11FE-0B90-3986-4AF314B0AE24}"/>
              </a:ext>
            </a:extLst>
          </p:cNvPr>
          <p:cNvSpPr txBox="1"/>
          <p:nvPr/>
        </p:nvSpPr>
        <p:spPr>
          <a:xfrm>
            <a:off x="3124200" y="2619375"/>
            <a:ext cx="152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Units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18B754-8853-583B-1A2F-28B5D9689FEC}"/>
              </a:ext>
            </a:extLst>
          </p:cNvPr>
          <p:cNvSpPr txBox="1"/>
          <p:nvPr/>
        </p:nvSpPr>
        <p:spPr>
          <a:xfrm>
            <a:off x="5391158" y="2057399"/>
            <a:ext cx="1907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ATTAINMENT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E7F8AD-D1D2-8D5B-1099-B69B1CD6A052}"/>
              </a:ext>
            </a:extLst>
          </p:cNvPr>
          <p:cNvSpPr txBox="1"/>
          <p:nvPr/>
        </p:nvSpPr>
        <p:spPr>
          <a:xfrm>
            <a:off x="5401527" y="2303620"/>
            <a:ext cx="1704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94.0%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E17CA0-15FE-FF68-3964-2C0312D07204}"/>
              </a:ext>
            </a:extLst>
          </p:cNvPr>
          <p:cNvSpPr txBox="1"/>
          <p:nvPr/>
        </p:nvSpPr>
        <p:spPr>
          <a:xfrm>
            <a:off x="5401527" y="2619375"/>
            <a:ext cx="1627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of forecast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3A908A-FF0C-3F31-6F9E-32F6C6731882}"/>
              </a:ext>
            </a:extLst>
          </p:cNvPr>
          <p:cNvSpPr txBox="1"/>
          <p:nvPr/>
        </p:nvSpPr>
        <p:spPr>
          <a:xfrm>
            <a:off x="7686675" y="2057399"/>
            <a:ext cx="17882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TRANSPORT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8961CF-5A3C-A23D-8CB4-0FFBDB1A0D96}"/>
              </a:ext>
            </a:extLst>
          </p:cNvPr>
          <p:cNvSpPr txBox="1"/>
          <p:nvPr/>
        </p:nvSpPr>
        <p:spPr>
          <a:xfrm>
            <a:off x="7686675" y="2303620"/>
            <a:ext cx="17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₹222.14 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FBB10-02F4-E13E-7E7C-0E25FC5C0727}"/>
              </a:ext>
            </a:extLst>
          </p:cNvPr>
          <p:cNvSpPr txBox="1"/>
          <p:nvPr/>
        </p:nvSpPr>
        <p:spPr>
          <a:xfrm>
            <a:off x="7686675" y="2619375"/>
            <a:ext cx="1666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Total 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4EAA48-6A78-6DA1-B1D5-3FB4968B9628}"/>
              </a:ext>
            </a:extLst>
          </p:cNvPr>
          <p:cNvSpPr txBox="1"/>
          <p:nvPr/>
        </p:nvSpPr>
        <p:spPr>
          <a:xfrm>
            <a:off x="766213" y="3689684"/>
            <a:ext cx="72227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accent1">
                    <a:lumMod val="75000"/>
                  </a:schemeClr>
                </a:solidFill>
              </a:rPr>
              <a:t>EXECUTIVE MESSAGE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DCCA60-D9F8-CE91-66A9-2DA144831E57}"/>
              </a:ext>
            </a:extLst>
          </p:cNvPr>
          <p:cNvSpPr txBox="1"/>
          <p:nvPr/>
        </p:nvSpPr>
        <p:spPr>
          <a:xfrm>
            <a:off x="766213" y="4089138"/>
            <a:ext cx="3500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Sales trail forecast by 4,650,234 units.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676B5E-107C-78E2-492E-4776A77ECCD9}"/>
              </a:ext>
            </a:extLst>
          </p:cNvPr>
          <p:cNvSpPr txBox="1"/>
          <p:nvPr/>
        </p:nvSpPr>
        <p:spPr>
          <a:xfrm>
            <a:off x="766213" y="4541580"/>
            <a:ext cx="4905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Delivery runs+1.5 days above the planned baseline.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13E63B-44E3-7218-A63B-4793859EDEE8}"/>
              </a:ext>
            </a:extLst>
          </p:cNvPr>
          <p:cNvSpPr txBox="1"/>
          <p:nvPr/>
        </p:nvSpPr>
        <p:spPr>
          <a:xfrm>
            <a:off x="766213" y="5037309"/>
            <a:ext cx="4236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60.1% of transactions exceed planned lead time.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6F0FAC-2417-87FE-9305-F085CF5A1E75}"/>
              </a:ext>
            </a:extLst>
          </p:cNvPr>
          <p:cNvSpPr txBox="1"/>
          <p:nvPr/>
        </p:nvSpPr>
        <p:spPr>
          <a:xfrm>
            <a:off x="766213" y="5531257"/>
            <a:ext cx="4905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Average transport cost: ₹3.06 per sold unit.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BB94B2-87A4-75AD-DA48-FDB27A1D119C}"/>
              </a:ext>
            </a:extLst>
          </p:cNvPr>
          <p:cNvSpPr txBox="1"/>
          <p:nvPr/>
        </p:nvSpPr>
        <p:spPr>
          <a:xfrm>
            <a:off x="9925050" y="2057399"/>
            <a:ext cx="1743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LEAD  TIME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BBA300-390B-49A6-B382-30E8C53BCCA8}"/>
              </a:ext>
            </a:extLst>
          </p:cNvPr>
          <p:cNvSpPr txBox="1"/>
          <p:nvPr/>
        </p:nvSpPr>
        <p:spPr>
          <a:xfrm>
            <a:off x="9925050" y="2351246"/>
            <a:ext cx="1673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112336"/>
                </a:solidFill>
              </a:rPr>
              <a:t>15.6 d</a:t>
            </a:r>
          </a:p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C08D3F-E0BC-B2BA-8E69-011590AAC617}"/>
              </a:ext>
            </a:extLst>
          </p:cNvPr>
          <p:cNvSpPr txBox="1"/>
          <p:nvPr/>
        </p:nvSpPr>
        <p:spPr>
          <a:xfrm>
            <a:off x="9925050" y="2672952"/>
            <a:ext cx="18167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solidFill>
                  <a:srgbClr val="707982"/>
                </a:solidFill>
              </a:rPr>
              <a:t>actual average</a:t>
            </a:r>
          </a:p>
          <a:p>
            <a:endParaRPr lang="en-IN" dirty="0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EA7D3AD9-5A38-34AD-2455-8F29BEFC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72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23F48E-A8E0-56AA-D8C8-AE9FB245243B}"/>
              </a:ext>
            </a:extLst>
          </p:cNvPr>
          <p:cNvSpPr txBox="1"/>
          <p:nvPr/>
        </p:nvSpPr>
        <p:spPr>
          <a:xfrm>
            <a:off x="721895" y="561474"/>
            <a:ext cx="7828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Demand Realization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EA043-40A7-640D-7E16-4F91E5045673}"/>
              </a:ext>
            </a:extLst>
          </p:cNvPr>
          <p:cNvSpPr txBox="1"/>
          <p:nvPr/>
        </p:nvSpPr>
        <p:spPr>
          <a:xfrm>
            <a:off x="721895" y="1023139"/>
            <a:ext cx="8758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Sales are consistently below the forecast.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7D87445-B22B-CA41-E5B0-2F8AA0464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74" y="1715636"/>
            <a:ext cx="8522018" cy="324612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9C4EC97-A895-EE50-934A-A21B59BDFB45}"/>
              </a:ext>
            </a:extLst>
          </p:cNvPr>
          <p:cNvSpPr/>
          <p:nvPr/>
        </p:nvSpPr>
        <p:spPr>
          <a:xfrm>
            <a:off x="721895" y="1554480"/>
            <a:ext cx="8888449" cy="3584448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7BE4EC-BCFE-8A28-3AF9-5F6DB2FEA753}"/>
              </a:ext>
            </a:extLst>
          </p:cNvPr>
          <p:cNvSpPr txBox="1"/>
          <p:nvPr/>
        </p:nvSpPr>
        <p:spPr>
          <a:xfrm>
            <a:off x="10106526" y="1554480"/>
            <a:ext cx="15560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solidFill>
                  <a:schemeClr val="accent1">
                    <a:lumMod val="75000"/>
                  </a:schemeClr>
                </a:solidFill>
              </a:rPr>
              <a:t>WHAT TO DO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932D35-519E-74EF-EAE3-C3689B25C4AF}"/>
              </a:ext>
            </a:extLst>
          </p:cNvPr>
          <p:cNvSpPr txBox="1"/>
          <p:nvPr/>
        </p:nvSpPr>
        <p:spPr>
          <a:xfrm>
            <a:off x="9865895" y="2069432"/>
            <a:ext cx="17967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Improve the forecast accuracy</a:t>
            </a:r>
            <a:r>
              <a:rPr lang="en-IN" sz="1600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9DF64F-5428-87F2-1CEC-DEE44AC62BD6}"/>
              </a:ext>
            </a:extLst>
          </p:cNvPr>
          <p:cNvSpPr txBox="1"/>
          <p:nvPr/>
        </p:nvSpPr>
        <p:spPr>
          <a:xfrm>
            <a:off x="9865895" y="3429000"/>
            <a:ext cx="17967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Check the Sales–Forecast gap by product, distributor and month. Find out whether the gap is caused by low demand, stock availability, or delivery problems.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7AA7CD-B66F-7136-0D96-736A27FF04F3}"/>
              </a:ext>
            </a:extLst>
          </p:cNvPr>
          <p:cNvSpPr txBox="1"/>
          <p:nvPr/>
        </p:nvSpPr>
        <p:spPr>
          <a:xfrm>
            <a:off x="9948672" y="4782312"/>
            <a:ext cx="1713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Sales achieved 94.0% of forecast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84E3B6-4524-A817-5FA1-0E0A9FAFA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9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CAD1F1-610E-A021-7938-DA2FD4115739}"/>
              </a:ext>
            </a:extLst>
          </p:cNvPr>
          <p:cNvSpPr txBox="1"/>
          <p:nvPr/>
        </p:nvSpPr>
        <p:spPr>
          <a:xfrm>
            <a:off x="770021" y="673768"/>
            <a:ext cx="6657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Plant Economics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2F540E-1A29-18E3-A46D-78A06EF74110}"/>
              </a:ext>
            </a:extLst>
          </p:cNvPr>
          <p:cNvSpPr txBox="1"/>
          <p:nvPr/>
        </p:nvSpPr>
        <p:spPr>
          <a:xfrm>
            <a:off x="770021" y="1135433"/>
            <a:ext cx="4620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Compare plant sales with transportation costs to find the most efficient plants.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794BC-B881-7422-B79E-A55913B14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29" y="1688538"/>
            <a:ext cx="5173579" cy="30114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85DD0E-97E5-4638-42E1-52233F55257F}"/>
              </a:ext>
            </a:extLst>
          </p:cNvPr>
          <p:cNvSpPr/>
          <p:nvPr/>
        </p:nvSpPr>
        <p:spPr>
          <a:xfrm>
            <a:off x="834029" y="1688538"/>
            <a:ext cx="5658211" cy="316692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F826C45-0DC5-4E2C-538A-A96EC20D5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446033"/>
              </p:ext>
            </p:extLst>
          </p:nvPr>
        </p:nvGraphicFramePr>
        <p:xfrm>
          <a:off x="6922008" y="1865376"/>
          <a:ext cx="460857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361">
                  <a:extLst>
                    <a:ext uri="{9D8B030D-6E8A-4147-A177-3AD203B41FA5}">
                      <a16:colId xmlns:a16="http://schemas.microsoft.com/office/drawing/2014/main" val="2566548560"/>
                    </a:ext>
                  </a:extLst>
                </a:gridCol>
                <a:gridCol w="1553607">
                  <a:extLst>
                    <a:ext uri="{9D8B030D-6E8A-4147-A177-3AD203B41FA5}">
                      <a16:colId xmlns:a16="http://schemas.microsoft.com/office/drawing/2014/main" val="3740890201"/>
                    </a:ext>
                  </a:extLst>
                </a:gridCol>
                <a:gridCol w="1553607">
                  <a:extLst>
                    <a:ext uri="{9D8B030D-6E8A-4147-A177-3AD203B41FA5}">
                      <a16:colId xmlns:a16="http://schemas.microsoft.com/office/drawing/2014/main" val="87828493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/>
                        <a:t>Plant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 dirty="0"/>
                        <a:t>Transport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975993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Goa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18.32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₹59.85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4804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Pune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18.29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₹53.69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542798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Bhopal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18.11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₹44.97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45572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en-IN" sz="900" dirty="0" err="1"/>
                        <a:t>Baddi</a:t>
                      </a:r>
                      <a:endParaRPr lang="en-IN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17.98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/>
                        <a:t>₹63.63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736419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DD3A712-CACD-CE5D-FDDB-BF2897AA7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72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8521BA-305A-749D-2B69-1195489BE42C}"/>
              </a:ext>
            </a:extLst>
          </p:cNvPr>
          <p:cNvSpPr txBox="1"/>
          <p:nvPr/>
        </p:nvSpPr>
        <p:spPr>
          <a:xfrm>
            <a:off x="630936" y="557784"/>
            <a:ext cx="5888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Distributor  Concentration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29DA6-5D9D-297F-CB3D-A5137D8C05FF}"/>
              </a:ext>
            </a:extLst>
          </p:cNvPr>
          <p:cNvSpPr txBox="1"/>
          <p:nvPr/>
        </p:nvSpPr>
        <p:spPr>
          <a:xfrm>
            <a:off x="630936" y="1143000"/>
            <a:ext cx="51206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Focus inventory and service improvements on the highest-volume cities.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45734-E2A4-99C0-AB2B-49679A255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7" y="1607111"/>
            <a:ext cx="6079237" cy="32768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EF918EF-A945-0149-CE0B-F8D9B42FB605}"/>
              </a:ext>
            </a:extLst>
          </p:cNvPr>
          <p:cNvSpPr/>
          <p:nvPr/>
        </p:nvSpPr>
        <p:spPr>
          <a:xfrm>
            <a:off x="630936" y="1607111"/>
            <a:ext cx="6373368" cy="349524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0B836-BC40-0A13-8E59-A60151C8DF42}"/>
              </a:ext>
            </a:extLst>
          </p:cNvPr>
          <p:cNvSpPr txBox="1"/>
          <p:nvPr/>
        </p:nvSpPr>
        <p:spPr>
          <a:xfrm>
            <a:off x="8126730" y="1762559"/>
            <a:ext cx="2587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PRIORITY NODES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0111A-2494-0326-7C9B-DAA4CC285FF4}"/>
              </a:ext>
            </a:extLst>
          </p:cNvPr>
          <p:cNvSpPr txBox="1"/>
          <p:nvPr/>
        </p:nvSpPr>
        <p:spPr>
          <a:xfrm>
            <a:off x="8126730" y="2505456"/>
            <a:ext cx="2955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Inventory availability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7583C-E6D8-FE6E-683E-55628E99A337}"/>
              </a:ext>
            </a:extLst>
          </p:cNvPr>
          <p:cNvSpPr txBox="1"/>
          <p:nvPr/>
        </p:nvSpPr>
        <p:spPr>
          <a:xfrm>
            <a:off x="8126730" y="3108960"/>
            <a:ext cx="2809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Service-level monitoring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8072B5-B847-C883-D227-8AF2683B45BE}"/>
              </a:ext>
            </a:extLst>
          </p:cNvPr>
          <p:cNvSpPr txBox="1"/>
          <p:nvPr/>
        </p:nvSpPr>
        <p:spPr>
          <a:xfrm>
            <a:off x="8126730" y="3613881"/>
            <a:ext cx="2852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Demand sensing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EC4AE3-CB5C-8947-2795-70E475C86A30}"/>
              </a:ext>
            </a:extLst>
          </p:cNvPr>
          <p:cNvSpPr txBox="1"/>
          <p:nvPr/>
        </p:nvSpPr>
        <p:spPr>
          <a:xfrm>
            <a:off x="8126730" y="4123944"/>
            <a:ext cx="2852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Lane / transport review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0EFFB1D-2EB6-9DAC-A4FA-FA5D7C3A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51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A51FF8-27FD-3775-E783-949A028145CE}"/>
              </a:ext>
            </a:extLst>
          </p:cNvPr>
          <p:cNvSpPr txBox="1"/>
          <p:nvPr/>
        </p:nvSpPr>
        <p:spPr>
          <a:xfrm>
            <a:off x="946484" y="850232"/>
            <a:ext cx="7202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Service Reliability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D014F-2B49-4753-6FD9-DAB9D12F79B0}"/>
              </a:ext>
            </a:extLst>
          </p:cNvPr>
          <p:cNvSpPr txBox="1"/>
          <p:nvPr/>
        </p:nvSpPr>
        <p:spPr>
          <a:xfrm>
            <a:off x="946484" y="1435007"/>
            <a:ext cx="49570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Lead-time variance indicates a network-wide execution opportunity.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AB3708-AB98-61A1-3230-E7FB07E1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471A43-A883-86CF-D6B9-EE6BB6D15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79" y="2250615"/>
            <a:ext cx="8539822" cy="31723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0426C1-54AE-253B-DCDF-F9AF7C897CBA}"/>
              </a:ext>
            </a:extLst>
          </p:cNvPr>
          <p:cNvSpPr/>
          <p:nvPr/>
        </p:nvSpPr>
        <p:spPr>
          <a:xfrm>
            <a:off x="1061379" y="2048256"/>
            <a:ext cx="8823285" cy="350215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E3D877-1290-6136-715D-D5D164CE2988}"/>
              </a:ext>
            </a:extLst>
          </p:cNvPr>
          <p:cNvSpPr txBox="1"/>
          <p:nvPr/>
        </p:nvSpPr>
        <p:spPr>
          <a:xfrm>
            <a:off x="10222992" y="2121408"/>
            <a:ext cx="14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DELIVERY TIME GAP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D996F-BC2C-F5D1-8EFC-886BC29EC8AC}"/>
              </a:ext>
            </a:extLst>
          </p:cNvPr>
          <p:cNvSpPr txBox="1"/>
          <p:nvPr/>
        </p:nvSpPr>
        <p:spPr>
          <a:xfrm>
            <a:off x="10222992" y="2505456"/>
            <a:ext cx="1316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+1.5 days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3BB4C9-61FD-8D43-0103-1C8499FA8B7C}"/>
              </a:ext>
            </a:extLst>
          </p:cNvPr>
          <p:cNvSpPr txBox="1"/>
          <p:nvPr/>
        </p:nvSpPr>
        <p:spPr>
          <a:xfrm>
            <a:off x="10351008" y="4059936"/>
            <a:ext cx="1188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DELAY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8F6661-F610-1653-997A-BACC243448E8}"/>
              </a:ext>
            </a:extLst>
          </p:cNvPr>
          <p:cNvSpPr txBox="1"/>
          <p:nvPr/>
        </p:nvSpPr>
        <p:spPr>
          <a:xfrm>
            <a:off x="10351008" y="4507992"/>
            <a:ext cx="100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60.1%</a:t>
            </a:r>
          </a:p>
        </p:txBody>
      </p:sp>
    </p:spTree>
    <p:extLst>
      <p:ext uri="{BB962C8B-B14F-4D97-AF65-F5344CB8AC3E}">
        <p14:creationId xmlns:p14="http://schemas.microsoft.com/office/powerpoint/2010/main" val="152766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04DCAC-B747-DEE5-5C5C-176F38D4C497}"/>
              </a:ext>
            </a:extLst>
          </p:cNvPr>
          <p:cNvSpPr txBox="1"/>
          <p:nvPr/>
        </p:nvSpPr>
        <p:spPr>
          <a:xfrm>
            <a:off x="866274" y="737937"/>
            <a:ext cx="5229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Forecast Exception Queue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788F5-375D-1AAC-F6B1-CAB3C83A5B53}"/>
              </a:ext>
            </a:extLst>
          </p:cNvPr>
          <p:cNvSpPr txBox="1"/>
          <p:nvPr/>
        </p:nvSpPr>
        <p:spPr>
          <a:xfrm>
            <a:off x="866274" y="1540042"/>
            <a:ext cx="37538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Start with the products showing the biggest Sales–Forecast gaps.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4BC8A7-D723-736C-A4FD-F904024C9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65454"/>
            <a:ext cx="6016752" cy="31525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9392B6-6304-5C07-BA24-46BD580C79C2}"/>
              </a:ext>
            </a:extLst>
          </p:cNvPr>
          <p:cNvSpPr/>
          <p:nvPr/>
        </p:nvSpPr>
        <p:spPr>
          <a:xfrm>
            <a:off x="932688" y="2165454"/>
            <a:ext cx="6016752" cy="3152503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84BEF-B2EC-9666-F95F-A4C81924C1C8}"/>
              </a:ext>
            </a:extLst>
          </p:cNvPr>
          <p:cNvSpPr txBox="1"/>
          <p:nvPr/>
        </p:nvSpPr>
        <p:spPr>
          <a:xfrm>
            <a:off x="7624689" y="2165454"/>
            <a:ext cx="1336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ROOT-CAUSE CHECK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DE4DCB-603F-1653-AA2A-22455F3EADAF}"/>
              </a:ext>
            </a:extLst>
          </p:cNvPr>
          <p:cNvSpPr txBox="1"/>
          <p:nvPr/>
        </p:nvSpPr>
        <p:spPr>
          <a:xfrm>
            <a:off x="7624688" y="2588455"/>
            <a:ext cx="3516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Check product availability</a:t>
            </a:r>
            <a:br>
              <a:rPr lang="en-IN" sz="1000" dirty="0"/>
            </a:br>
            <a:r>
              <a:rPr lang="en-IN" sz="1000" b="1" dirty="0"/>
              <a:t>Check pricing and promotions</a:t>
            </a:r>
            <a:br>
              <a:rPr lang="en-IN" sz="1000" dirty="0"/>
            </a:br>
            <a:r>
              <a:rPr lang="en-IN" sz="1000" b="1" dirty="0"/>
              <a:t>Check channel coverage</a:t>
            </a:r>
            <a:br>
              <a:rPr lang="en-IN" sz="1000" dirty="0"/>
            </a:br>
            <a:r>
              <a:rPr lang="en-IN" sz="1000" b="1" dirty="0"/>
              <a:t>Review forecast assumptions</a:t>
            </a:r>
            <a:endParaRPr lang="en-IN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3D6948-1B32-1B0A-D35F-3827BE3EECA2}"/>
              </a:ext>
            </a:extLst>
          </p:cNvPr>
          <p:cNvSpPr txBox="1"/>
          <p:nvPr/>
        </p:nvSpPr>
        <p:spPr>
          <a:xfrm>
            <a:off x="7624688" y="4511509"/>
            <a:ext cx="3418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A large gap is a warning. Check the cause before taking action.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DA1902-0FAF-083B-690C-AAA92D44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714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305DBE-B03B-42AD-BDAB-31F3021DB0B4}"/>
              </a:ext>
            </a:extLst>
          </p:cNvPr>
          <p:cNvSpPr txBox="1"/>
          <p:nvPr/>
        </p:nvSpPr>
        <p:spPr>
          <a:xfrm>
            <a:off x="900332" y="759655"/>
            <a:ext cx="5092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90-Day Management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2D085-18F9-E9E3-D18C-CBFFCBDC6C73}"/>
              </a:ext>
            </a:extLst>
          </p:cNvPr>
          <p:cNvSpPr txBox="1"/>
          <p:nvPr/>
        </p:nvSpPr>
        <p:spPr>
          <a:xfrm>
            <a:off x="900332" y="1395663"/>
            <a:ext cx="58213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Focus on the key actions needed to improve forecast, service, cost and network performance.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2B9045-4E8E-7ACF-07D0-5AEE102A9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937520"/>
              </p:ext>
            </p:extLst>
          </p:nvPr>
        </p:nvGraphicFramePr>
        <p:xfrm>
          <a:off x="900332" y="2119313"/>
          <a:ext cx="9091393" cy="2619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4930">
                  <a:extLst>
                    <a:ext uri="{9D8B030D-6E8A-4147-A177-3AD203B41FA5}">
                      <a16:colId xmlns:a16="http://schemas.microsoft.com/office/drawing/2014/main" val="3239631068"/>
                    </a:ext>
                  </a:extLst>
                </a:gridCol>
                <a:gridCol w="1783479">
                  <a:extLst>
                    <a:ext uri="{9D8B030D-6E8A-4147-A177-3AD203B41FA5}">
                      <a16:colId xmlns:a16="http://schemas.microsoft.com/office/drawing/2014/main" val="3241144826"/>
                    </a:ext>
                  </a:extLst>
                </a:gridCol>
                <a:gridCol w="5702984">
                  <a:extLst>
                    <a:ext uri="{9D8B030D-6E8A-4147-A177-3AD203B41FA5}">
                      <a16:colId xmlns:a16="http://schemas.microsoft.com/office/drawing/2014/main" val="1308661002"/>
                    </a:ext>
                  </a:extLst>
                </a:gridCol>
              </a:tblGrid>
              <a:tr h="59531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Review forecast accuracy every month and identify the main Sales–Forecast gaps.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354603"/>
                  </a:ext>
                </a:extLst>
              </a:tr>
              <a:tr h="59531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Focus on the routes, plants and carriers with the highest delivery delays.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40827"/>
                  </a:ext>
                </a:extLst>
              </a:tr>
              <a:tr h="41671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Track transport cost per unit and identify expensive routes.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08539"/>
                  </a:ext>
                </a:extLst>
              </a:tr>
              <a:tr h="41671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Keep enough stock at high-volume distributor locations.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59581"/>
                  </a:ext>
                </a:extLst>
              </a:tr>
              <a:tr h="59531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Set clear limits, assign owners and review performance regularly.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336089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C3E8B5-444F-F49E-2010-5C76EBAE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24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85ADE7-D8FC-BB82-D1B0-6747E1AF20DD}"/>
              </a:ext>
            </a:extLst>
          </p:cNvPr>
          <p:cNvSpPr txBox="1"/>
          <p:nvPr/>
        </p:nvSpPr>
        <p:spPr>
          <a:xfrm>
            <a:off x="882316" y="721895"/>
            <a:ext cx="3721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Key Decisions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D97333-19FB-2171-F910-1B0F4A301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738970"/>
              </p:ext>
            </p:extLst>
          </p:nvPr>
        </p:nvGraphicFramePr>
        <p:xfrm>
          <a:off x="882316" y="1779899"/>
          <a:ext cx="9277686" cy="2358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2634">
                  <a:extLst>
                    <a:ext uri="{9D8B030D-6E8A-4147-A177-3AD203B41FA5}">
                      <a16:colId xmlns:a16="http://schemas.microsoft.com/office/drawing/2014/main" val="2519058522"/>
                    </a:ext>
                  </a:extLst>
                </a:gridCol>
                <a:gridCol w="8655052">
                  <a:extLst>
                    <a:ext uri="{9D8B030D-6E8A-4147-A177-3AD203B41FA5}">
                      <a16:colId xmlns:a16="http://schemas.microsoft.com/office/drawing/2014/main" val="2970104013"/>
                    </a:ext>
                  </a:extLst>
                </a:gridCol>
              </a:tblGrid>
              <a:tr h="78606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Improve forecast accuracy and reduce the gap between Sales and Forecast.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7110006"/>
                  </a:ext>
                </a:extLst>
              </a:tr>
              <a:tr h="78606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Reduce delivery delays by improving problem routes and plants.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0311588"/>
                  </a:ext>
                </a:extLst>
              </a:tr>
              <a:tr h="78606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Reduce transport costs while maintaining good delivery service.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034653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3CF5976-71C2-6A00-FFDD-E5A4476475D9}"/>
              </a:ext>
            </a:extLst>
          </p:cNvPr>
          <p:cNvSpPr txBox="1"/>
          <p:nvPr/>
        </p:nvSpPr>
        <p:spPr>
          <a:xfrm>
            <a:off x="882316" y="5293895"/>
            <a:ext cx="152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</a:rPr>
              <a:t>Next Step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F15C4-A584-6B9E-1A88-E633EAF16535}"/>
              </a:ext>
            </a:extLst>
          </p:cNvPr>
          <p:cNvSpPr txBox="1"/>
          <p:nvPr/>
        </p:nvSpPr>
        <p:spPr>
          <a:xfrm>
            <a:off x="882316" y="5727032"/>
            <a:ext cx="6513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Track these measures in the Power BI dashboard, with clear targets and responsible owners.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D78D3FF-6E43-47C2-453E-52240274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E7571-7756-48F7-A483-E193C02D32D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367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441</Words>
  <Application>Microsoft Office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Patra</dc:creator>
  <cp:lastModifiedBy>Sourav Patra</cp:lastModifiedBy>
  <cp:revision>4</cp:revision>
  <dcterms:created xsi:type="dcterms:W3CDTF">2026-09-13T06:38:19Z</dcterms:created>
  <dcterms:modified xsi:type="dcterms:W3CDTF">2026-09-19T11:01:47Z</dcterms:modified>
</cp:coreProperties>
</file>